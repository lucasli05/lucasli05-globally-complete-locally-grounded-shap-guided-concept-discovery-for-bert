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70" r:id="rId7"/>
    <p:sldId id="271" r:id="rId8"/>
    <p:sldId id="267" r:id="rId9"/>
    <p:sldId id="268" r:id="rId10"/>
    <p:sldId id="269" r:id="rId11"/>
    <p:sldId id="273" r:id="rId12"/>
  </p:sldIdLst>
  <p:sldSz cx="14630400" cy="8229600"/>
  <p:notesSz cx="8229600" cy="14630400"/>
  <p:embeddedFontLst>
    <p:embeddedFont>
      <p:font typeface="Noto Sans SC" panose="020B0200000000000000" pitchFamily="34" charset="-128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7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3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0390" y="368657"/>
            <a:ext cx="130428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Globally Complete, Locally Grounded: SHAP-Guided Concept Discovery</a:t>
            </a:r>
          </a:p>
          <a:p>
            <a:pPr marL="0" indent="0" algn="l">
              <a:lnSpc>
                <a:spcPts val="5550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Guangjie</a:t>
            </a:r>
            <a:r>
              <a:rPr lang="en-US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 Li , Zhenling Chen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0389" y="4934025"/>
            <a:ext cx="13042821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Deep neural networks achieve outstanding performance but often lack transparency. This presentation introduces a novel approach that integrates local attributions from SHAP into concept discovery for neural networks, creating explanations that are both globally sufficient and locally grounded.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260388" y="6434014"/>
            <a:ext cx="13042821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Our method identifies influential segments using SHAP values, clusters them to obtain meaningful centers, and then aligns concept vectors with these centers. The result is a set of interpretable concepts that maintain high completeness while being anchored to important model features.</a:t>
            </a:r>
            <a:endParaRPr lang="en-US" sz="175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88" y="2713333"/>
            <a:ext cx="2498892" cy="20150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0882" y="2410585"/>
            <a:ext cx="3435981" cy="2420620"/>
          </a:xfrm>
          <a:prstGeom prst="rect">
            <a:avLst/>
          </a:prstGeom>
        </p:spPr>
      </p:pic>
      <p:pic>
        <p:nvPicPr>
          <p:cNvPr id="18438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72963" y="6350"/>
            <a:ext cx="2312987" cy="723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3037" y="241696"/>
            <a:ext cx="4811673" cy="601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Related Work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673537" y="1918216"/>
            <a:ext cx="4031218" cy="3007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Feature-Based Explanation Methods</a:t>
            </a:r>
            <a:endParaRPr lang="en-US" sz="1850" b="1" dirty="0"/>
          </a:p>
        </p:txBody>
      </p:sp>
      <p:sp>
        <p:nvSpPr>
          <p:cNvPr id="4" name="Text 2"/>
          <p:cNvSpPr/>
          <p:nvPr/>
        </p:nvSpPr>
        <p:spPr>
          <a:xfrm>
            <a:off x="673537" y="2411373"/>
            <a:ext cx="6406872" cy="3080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Techniques:</a:t>
            </a:r>
            <a:r>
              <a:rPr lang="en-US" sz="15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LIME, SHAP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73537" y="2892504"/>
            <a:ext cx="6406872" cy="6160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Key Point:</a:t>
            </a:r>
            <a:r>
              <a:rPr lang="en-US" sz="15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Assign importance scores to input features, offering local explanations but lacking insight into the global reasoning process.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557611" y="1918216"/>
            <a:ext cx="4035266" cy="3007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Sample-Based Explanation Methods</a:t>
            </a:r>
            <a:endParaRPr lang="en-US" sz="1850" b="1" dirty="0"/>
          </a:p>
        </p:txBody>
      </p:sp>
      <p:sp>
        <p:nvSpPr>
          <p:cNvPr id="7" name="Text 5"/>
          <p:cNvSpPr/>
          <p:nvPr/>
        </p:nvSpPr>
        <p:spPr>
          <a:xfrm>
            <a:off x="7557611" y="2411373"/>
            <a:ext cx="6406872" cy="6160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Technique:</a:t>
            </a:r>
            <a:r>
              <a:rPr lang="en-US" sz="15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Explaining predictions by identifying similar training examples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57611" y="3200519"/>
            <a:ext cx="6406872" cy="3080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Key Point:</a:t>
            </a:r>
            <a:r>
              <a:rPr lang="en-US" sz="15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Intuitive but do not provide a formal global framework.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3537" y="4090511"/>
            <a:ext cx="4081463" cy="3007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Counterfactual Explanation Methods</a:t>
            </a:r>
            <a:endParaRPr lang="en-US" sz="1850" b="1" dirty="0"/>
          </a:p>
        </p:txBody>
      </p:sp>
      <p:sp>
        <p:nvSpPr>
          <p:cNvPr id="10" name="Text 8"/>
          <p:cNvSpPr/>
          <p:nvPr/>
        </p:nvSpPr>
        <p:spPr>
          <a:xfrm>
            <a:off x="673537" y="4583668"/>
            <a:ext cx="6406872" cy="6160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Focus:</a:t>
            </a:r>
            <a:r>
              <a:rPr lang="en-US" sz="15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Determine "what to change" in the input to alter the model's output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3537" y="5372814"/>
            <a:ext cx="6406872" cy="6160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Key Point:</a:t>
            </a:r>
            <a:r>
              <a:rPr lang="en-US" sz="15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Provide actionable insights yet fall short in revealing the underlying factors driving predictions.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57611" y="4090511"/>
            <a:ext cx="3192780" cy="3007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Concept-Based Explanations</a:t>
            </a:r>
            <a:endParaRPr lang="en-US" sz="1850" b="1" dirty="0"/>
          </a:p>
        </p:txBody>
      </p:sp>
      <p:sp>
        <p:nvSpPr>
          <p:cNvPr id="13" name="Text 11"/>
          <p:cNvSpPr/>
          <p:nvPr/>
        </p:nvSpPr>
        <p:spPr>
          <a:xfrm>
            <a:off x="7557611" y="4583668"/>
            <a:ext cx="6406872" cy="3080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Techniques: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57611" y="5064800"/>
            <a:ext cx="6406872" cy="3080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TCAV uses human-annotated concepts for directional sensitivities.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57611" y="5440085"/>
            <a:ext cx="6406872" cy="3080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ACE automatically discovers concepts via clustering image patches.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557611" y="5815370"/>
            <a:ext cx="6406872" cy="6160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Unsupervised methods (e.g., PCA) extract latent factors, though they may not align with human semantics.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557611" y="6604516"/>
            <a:ext cx="6406872" cy="6160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Key Point:</a:t>
            </a:r>
            <a:r>
              <a:rPr lang="en-US" sz="15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Unsupervised semantic discovery often requires inductive biases to achieve meaningful results.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298908"/>
            <a:ext cx="11606332" cy="6443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The Challenge of Neural Network Interpretability</a:t>
            </a:r>
            <a:endParaRPr lang="en-US" sz="4050" dirty="0"/>
          </a:p>
        </p:txBody>
      </p:sp>
      <p:sp>
        <p:nvSpPr>
          <p:cNvPr id="3" name="Shape 1"/>
          <p:cNvSpPr/>
          <p:nvPr/>
        </p:nvSpPr>
        <p:spPr>
          <a:xfrm>
            <a:off x="721638" y="1913692"/>
            <a:ext cx="463868" cy="463868"/>
          </a:xfrm>
          <a:prstGeom prst="roundRect">
            <a:avLst>
              <a:gd name="adj" fmla="val 18671"/>
            </a:avLst>
          </a:prstGeom>
          <a:solidFill>
            <a:srgbClr val="F3D8D9"/>
          </a:solidFill>
          <a:ln w="7620">
            <a:solidFill>
              <a:srgbClr val="D9B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969" y="1952327"/>
            <a:ext cx="309205" cy="3865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91603" y="1913692"/>
            <a:ext cx="2577584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Black Box Nature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391603" y="2359581"/>
            <a:ext cx="3588306" cy="131968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Deep neural networks achieve state-of-the-art performance across domains but their complex internal workings remain opaque to humans.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186005" y="1913692"/>
            <a:ext cx="463868" cy="463868"/>
          </a:xfrm>
          <a:prstGeom prst="roundRect">
            <a:avLst>
              <a:gd name="adj" fmla="val 18671"/>
            </a:avLst>
          </a:prstGeom>
          <a:solidFill>
            <a:srgbClr val="F3D8D9"/>
          </a:solidFill>
          <a:ln w="7620">
            <a:solidFill>
              <a:srgbClr val="D9B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3336" y="1952327"/>
            <a:ext cx="309205" cy="3865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55970" y="1913692"/>
            <a:ext cx="3464957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Local vs. Global Explanations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5855970" y="2359581"/>
            <a:ext cx="3588306" cy="16496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Traditional methods like SHAP provide local explanations for individual predictions but often fail to capture the global reasoning of the model.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9650373" y="1913692"/>
            <a:ext cx="463868" cy="463868"/>
          </a:xfrm>
          <a:prstGeom prst="roundRect">
            <a:avLst>
              <a:gd name="adj" fmla="val 18671"/>
            </a:avLst>
          </a:prstGeom>
          <a:solidFill>
            <a:srgbClr val="F3D8D9"/>
          </a:solidFill>
          <a:ln w="7620">
            <a:solidFill>
              <a:srgbClr val="D9B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7704" y="1952327"/>
            <a:ext cx="309205" cy="3865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20337" y="1913692"/>
            <a:ext cx="3118723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Human-Friendly Concepts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10320337" y="2359581"/>
            <a:ext cx="3588306" cy="131968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Humans prefer to explain decisions using high-level concepts—grouping similar examples and reasoning in terms of abstract ideas.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21638" y="4318397"/>
            <a:ext cx="6842284" cy="6443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Concept-Based Explanations</a:t>
            </a:r>
            <a:endParaRPr lang="en-US" sz="4050" dirty="0"/>
          </a:p>
        </p:txBody>
      </p:sp>
      <p:sp>
        <p:nvSpPr>
          <p:cNvPr id="16" name="Text 11"/>
          <p:cNvSpPr/>
          <p:nvPr/>
        </p:nvSpPr>
        <p:spPr>
          <a:xfrm>
            <a:off x="721638" y="5271968"/>
            <a:ext cx="13187124" cy="6598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Concept-based explanations provide human-friendly insights by discovering vectors that represent high-level factors in the latent space. These approaches assume that concepts lie in a low-dimensional subspace of an intermediate DNN layer.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721638" y="6395680"/>
            <a:ext cx="463868" cy="463868"/>
          </a:xfrm>
          <a:prstGeom prst="roundRect">
            <a:avLst>
              <a:gd name="adj" fmla="val 18671"/>
            </a:avLst>
          </a:prstGeom>
          <a:solidFill>
            <a:srgbClr val="F3D8D9"/>
          </a:solidFill>
          <a:ln w="7620">
            <a:solidFill>
              <a:srgbClr val="D9B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969" y="6434316"/>
            <a:ext cx="309205" cy="3865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91603" y="6395680"/>
            <a:ext cx="2577584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Completeness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1391603" y="6841569"/>
            <a:ext cx="3588306" cy="6598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How sufficient concepts are for reconstructing model decisions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5186005" y="6395680"/>
            <a:ext cx="463868" cy="463868"/>
          </a:xfrm>
          <a:prstGeom prst="roundRect">
            <a:avLst>
              <a:gd name="adj" fmla="val 18671"/>
            </a:avLst>
          </a:prstGeom>
          <a:solidFill>
            <a:srgbClr val="F3D8D9"/>
          </a:solidFill>
          <a:ln w="7620">
            <a:solidFill>
              <a:srgbClr val="D9B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3336" y="6434316"/>
            <a:ext cx="309205" cy="3865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855970" y="6395680"/>
            <a:ext cx="2577584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Interpretability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5855970" y="6841569"/>
            <a:ext cx="3588306" cy="6598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How meaningful concepts are to humans</a:t>
            </a:r>
            <a:endParaRPr lang="en-US" sz="1600" dirty="0"/>
          </a:p>
        </p:txBody>
      </p:sp>
      <p:sp>
        <p:nvSpPr>
          <p:cNvPr id="25" name="Shape 18"/>
          <p:cNvSpPr/>
          <p:nvPr/>
        </p:nvSpPr>
        <p:spPr>
          <a:xfrm>
            <a:off x="9650373" y="6395680"/>
            <a:ext cx="463868" cy="463868"/>
          </a:xfrm>
          <a:prstGeom prst="roundRect">
            <a:avLst>
              <a:gd name="adj" fmla="val 18671"/>
            </a:avLst>
          </a:prstGeom>
          <a:solidFill>
            <a:srgbClr val="F3D8D9"/>
          </a:solidFill>
          <a:ln w="7620">
            <a:solidFill>
              <a:srgbClr val="D9B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27704" y="6434316"/>
            <a:ext cx="309205" cy="3865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320337" y="6395680"/>
            <a:ext cx="2577584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Representation</a:t>
            </a:r>
            <a:endParaRPr lang="en-US" sz="2000" dirty="0"/>
          </a:p>
        </p:txBody>
      </p:sp>
      <p:sp>
        <p:nvSpPr>
          <p:cNvPr id="28" name="Text 20"/>
          <p:cNvSpPr/>
          <p:nvPr/>
        </p:nvSpPr>
        <p:spPr>
          <a:xfrm>
            <a:off x="10320337" y="6841569"/>
            <a:ext cx="3588306" cy="6598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How concepts capture latent space directions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02458"/>
            <a:ext cx="14306510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Our Approach: Bridging Local and Global Explanations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73090" y="2160945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endParaRPr lang="en-US" sz="1750" dirty="0"/>
          </a:p>
        </p:txBody>
      </p:sp>
      <p:sp>
        <p:nvSpPr>
          <p:cNvPr id="8" name="TextBox 7"/>
          <p:cNvSpPr txBox="1"/>
          <p:nvPr/>
        </p:nvSpPr>
        <p:spPr>
          <a:xfrm>
            <a:off x="184190" y="1322844"/>
            <a:ext cx="988377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1. Fine-tuning &amp; Activation Extraction</a:t>
            </a:r>
          </a:p>
          <a:p>
            <a:r>
              <a:rPr lang="en-US" dirty="0"/>
              <a:t>   - Fine-tune a BERT model for sentiment classification.  </a:t>
            </a:r>
          </a:p>
          <a:p>
            <a:r>
              <a:rPr lang="en-US" dirty="0"/>
              <a:t>   - Extract intermediate activations to serve as feature representations.</a:t>
            </a:r>
          </a:p>
          <a:p>
            <a:endParaRPr lang="en-US" dirty="0"/>
          </a:p>
          <a:p>
            <a:r>
              <a:rPr lang="en-US" dirty="0"/>
              <a:t>2. SHAP Value Computation &amp; Clustering</a:t>
            </a:r>
          </a:p>
          <a:p>
            <a:r>
              <a:rPr lang="en-US" dirty="0"/>
              <a:t>   - Compute sentence-level SHAP values to identify influential features.  </a:t>
            </a:r>
          </a:p>
          <a:p>
            <a:r>
              <a:rPr lang="en-US" dirty="0"/>
              <a:t>   - Cluster the high-level embeddings to derive semantic cluster centers that capture key patterns.</a:t>
            </a:r>
          </a:p>
          <a:p>
            <a:endParaRPr lang="en-US" dirty="0"/>
          </a:p>
          <a:p>
            <a:r>
              <a:rPr lang="en-US" dirty="0"/>
              <a:t>3. ConceptNet Model Training with Composite Loss</a:t>
            </a:r>
          </a:p>
          <a:p>
            <a:r>
              <a:rPr lang="en-US" dirty="0"/>
              <a:t>   - Train a ConceptNet model using a composite loss function that includes:  </a:t>
            </a:r>
          </a:p>
          <a:p>
            <a:r>
              <a:rPr lang="en-US" dirty="0"/>
              <a:t>   - Proximity Regularizer:Ensures concept vectors are close to the corresponding high-level features.  </a:t>
            </a:r>
          </a:p>
          <a:p>
            <a:r>
              <a:rPr lang="en-US" dirty="0"/>
              <a:t>   - SHAP-Cluster Regularizer:Enforces alignment between the cluster centers and the learned concepts.</a:t>
            </a:r>
          </a:p>
          <a:p>
            <a:endParaRPr lang="en-US" dirty="0"/>
          </a:p>
          <a:p>
            <a:r>
              <a:rPr lang="en-US" dirty="0"/>
              <a:t>4. Concept Interpretation via Nearest Neighbor Analysis</a:t>
            </a:r>
          </a:p>
          <a:p>
            <a:r>
              <a:rPr lang="en-US" dirty="0"/>
              <a:t>   - Analyze the learned concept vectors by finding their nearest neighbors to interpret and validate the semantic meaning of each concept.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2501" y="1605895"/>
            <a:ext cx="4322188" cy="45182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219024" y="1638775"/>
            <a:ext cx="738051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Pre-trained Model &amp; Task</a:t>
            </a:r>
            <a:endParaRPr lang="en-US" dirty="0"/>
          </a:p>
          <a:p>
            <a:pPr>
              <a:buFont typeface="Arial" panose="020B0604020202090204" pitchFamily="34" charset="0"/>
              <a:buChar char="•"/>
            </a:pPr>
            <a:r>
              <a:rPr lang="en-US" dirty="0"/>
              <a:t>Use a pre-trained BERT model fine-tuned on IMDB sentiment</a:t>
            </a:r>
          </a:p>
          <a:p>
            <a:pPr>
              <a:buFont typeface="Arial" panose="020B0604020202090204" pitchFamily="34" charset="0"/>
              <a:buChar char="•"/>
            </a:pPr>
            <a:r>
              <a:rPr lang="en-US" dirty="0"/>
              <a:t> classification.</a:t>
            </a:r>
          </a:p>
          <a:p>
            <a:pPr>
              <a:buFont typeface="Arial" panose="020B0604020202090204" pitchFamily="34" charset="0"/>
              <a:buChar char="•"/>
            </a:pPr>
            <a:r>
              <a:rPr lang="en-US" dirty="0"/>
              <a:t>Each review xi is tokenized; sentiment label </a:t>
            </a:r>
            <a:r>
              <a:rPr lang="en-US" dirty="0" err="1"/>
              <a:t>yi</a:t>
            </a:r>
            <a:r>
              <a:rPr lang="en-US" dirty="0"/>
              <a:t>​∈{0,1}.</a:t>
            </a:r>
          </a:p>
          <a:p>
            <a:pPr>
              <a:buNone/>
            </a:pPr>
            <a:r>
              <a:rPr lang="en-US" b="1" dirty="0"/>
              <a:t>Model Structure</a:t>
            </a:r>
            <a:endParaRPr lang="en-US" dirty="0"/>
          </a:p>
          <a:p>
            <a:pPr>
              <a:buFont typeface="Arial" panose="020B0604020202090204" pitchFamily="34" charset="0"/>
              <a:buChar char="•"/>
            </a:pPr>
            <a:r>
              <a:rPr lang="en-US" dirty="0"/>
              <a:t>Defined as: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93" y="1146242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BERT Fine-Tuning &amp; Activation Extraction</a:t>
            </a:r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93" y="3324574"/>
            <a:ext cx="1993900" cy="42884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19024" y="3674067"/>
            <a:ext cx="61948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where  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                    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is an intermediate embedding and 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h(⋅)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is the classification head.</a:t>
            </a:r>
            <a:endParaRPr lang="en-US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rcRect l="6163" t="17787" b="-1"/>
          <a:stretch>
            <a:fillRect/>
          </a:stretch>
        </p:blipFill>
        <p:spPr>
          <a:xfrm>
            <a:off x="939398" y="3725760"/>
            <a:ext cx="1167895" cy="27147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19024" y="4354224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Training Objective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9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Minimize standard cross-entropy loss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93" y="5215164"/>
            <a:ext cx="3429000" cy="6731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3393" y="6093214"/>
            <a:ext cx="62351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Activation Extraction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9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Use a forward hook to extract activations from the penultimate </a:t>
            </a:r>
          </a:p>
          <a:p>
            <a:pPr algn="l">
              <a:buFont typeface="Arial" panose="020B060402020209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layer for later use.</a:t>
            </a:r>
          </a:p>
        </p:txBody>
      </p:sp>
      <p:cxnSp>
        <p:nvCxnSpPr>
          <p:cNvPr id="27" name="Straight Connector 26"/>
          <p:cNvCxnSpPr/>
          <p:nvPr/>
        </p:nvCxnSpPr>
        <p:spPr>
          <a:xfrm>
            <a:off x="6413860" y="1146242"/>
            <a:ext cx="0" cy="66784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11818" y="1142857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SHAP Analysis &amp; Cluster Center Extraction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6479172" y="1668305"/>
            <a:ext cx="55517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SHAP Value Computation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9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Compute sentence-level SHAP values for a subset of training samples.</a:t>
            </a:r>
          </a:p>
          <a:p>
            <a:pPr algn="l">
              <a:buFont typeface="Arial" panose="020B060402020209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For a token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i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in sentence x, the SHAP value is: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2371" y="2901165"/>
            <a:ext cx="3868057" cy="67508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498760" y="3725760"/>
            <a:ext cx="53949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Importance Score &amp; Selection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9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Aggregate absolute SHAP contributions for the positive class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each sentence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9535" y="4649090"/>
            <a:ext cx="2050311" cy="81788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498760" y="5473727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9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Rank sentences by I(x) and select the top-k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11818" y="5940146"/>
            <a:ext cx="4558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Clustering for Semantic Centers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511818" y="6416379"/>
            <a:ext cx="54080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90204" pitchFamily="34" charset="0"/>
              <a:buChar char="•"/>
            </a:pPr>
            <a:r>
              <a:rPr lang="en-US" dirty="0"/>
              <a:t>Cluster the corresponding BERT embeddings using K-means.</a:t>
            </a:r>
          </a:p>
          <a:p>
            <a:pPr>
              <a:buFont typeface="Arial" panose="020B0604020202090204" pitchFamily="34" charset="0"/>
              <a:buChar char="•"/>
            </a:pPr>
            <a:r>
              <a:rPr lang="en-US" dirty="0"/>
              <a:t>The resulting cluster centers </a:t>
            </a:r>
            <a:r>
              <a:rPr lang="el-GR" dirty="0"/>
              <a:t>μ1​,μ2​,…,μ</a:t>
            </a:r>
            <a:r>
              <a:rPr lang="en-US" dirty="0"/>
              <a:t>N​} capture dominant high-level semantics.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26"/>
          <p:cNvCxnSpPr/>
          <p:nvPr/>
        </p:nvCxnSpPr>
        <p:spPr>
          <a:xfrm>
            <a:off x="6413860" y="1146242"/>
            <a:ext cx="0" cy="66784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7819" y="1126592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ConceptNet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Training Overview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27819" y="1512189"/>
            <a:ext cx="618808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Objective</a:t>
            </a:r>
            <a:endParaRPr lang="en-US" dirty="0"/>
          </a:p>
          <a:p>
            <a:pPr>
              <a:buFont typeface="Arial" panose="020B0604020202090204" pitchFamily="34" charset="0"/>
              <a:buChar char="•"/>
            </a:pPr>
            <a:r>
              <a:rPr lang="en-US" dirty="0"/>
              <a:t>Learn a set of m concept vectors {c1,c2,…,cm}⊂Rd  such that the concept score</a:t>
            </a:r>
          </a:p>
          <a:p>
            <a:pPr>
              <a:buFont typeface="Arial" panose="020B0604020202090204" pitchFamily="34" charset="0"/>
              <a:buChar char="•"/>
            </a:pPr>
            <a:r>
              <a:rPr lang="en-US" dirty="0"/>
              <a:t>                                                            , is a sufficient statistic for predicting y.</a:t>
            </a:r>
          </a:p>
          <a:p>
            <a:pPr>
              <a:buNone/>
            </a:pPr>
            <a:r>
              <a:rPr lang="en-US" b="1" dirty="0"/>
              <a:t>Mapping to Prediction</a:t>
            </a:r>
            <a:endParaRPr lang="en-US" dirty="0"/>
          </a:p>
          <a:p>
            <a:pPr>
              <a:buFont typeface="Arial" panose="020B0604020202090204" pitchFamily="34" charset="0"/>
              <a:buChar char="•"/>
            </a:pPr>
            <a:r>
              <a:rPr lang="en-US" dirty="0"/>
              <a:t>Assume existence of a mapping g:                      so that: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35" y="2368380"/>
            <a:ext cx="3212411" cy="34506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6746" y="3212951"/>
            <a:ext cx="1066800" cy="3175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205" y="3576045"/>
            <a:ext cx="3403600" cy="482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4499" y="4161300"/>
            <a:ext cx="61880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Overall Objective Function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9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Maximize the log-likelihood of predictions with the composite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regularizer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616" y="5148188"/>
            <a:ext cx="3759200" cy="6858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616" y="5940146"/>
            <a:ext cx="2527300" cy="4953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49096" y="1166063"/>
            <a:ext cx="551252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dirty="0">
                <a:solidFill>
                  <a:srgbClr val="000000"/>
                </a:solidFill>
                <a:latin typeface="-webkit-standard"/>
              </a:rPr>
              <a:t>Proximity Regularization</a:t>
            </a:r>
          </a:p>
          <a:p>
            <a:pPr algn="l">
              <a:buNone/>
            </a:pPr>
            <a:endParaRPr lang="en-US" dirty="0">
              <a:solidFill>
                <a:srgbClr val="000000"/>
              </a:solidFill>
              <a:latin typeface="-webkit-standard"/>
            </a:endParaRP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Purpose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dirty="0"/>
              <a:t>Encourages each concept vector to be close to its top-K nearest neighbors (patches or segments) in the training data.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dirty="0"/>
              <a:t>Simultaneously maintains diversity among different concept vectors.</a:t>
            </a:r>
          </a:p>
          <a:p>
            <a:pPr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Mathematical Formulation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9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For each concept      , denote        as its set of top-K nearest neighbors.</a:t>
            </a:r>
          </a:p>
          <a:p>
            <a:pPr algn="l">
              <a:buFont typeface="Arial" panose="020B060402020209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 proximity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regularizer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is defined as:</a:t>
            </a:r>
          </a:p>
          <a:p>
            <a:endParaRPr lang="en-US" dirty="0"/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5055" y="3710156"/>
            <a:ext cx="266700" cy="2540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65729" y="3666283"/>
            <a:ext cx="368300" cy="3175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50166" y="4624657"/>
            <a:ext cx="3428684" cy="14035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605665" y="6112280"/>
            <a:ext cx="54077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0" i="0" u="none" strike="noStrike" dirty="0">
                <a:solidFill>
                  <a:srgbClr val="000000"/>
                </a:solidFill>
                <a:effectLst/>
              </a:rPr>
              <a:t>λ1​</a:t>
            </a:r>
            <a:r>
              <a:rPr lang="el-G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and </a:t>
            </a:r>
            <a:r>
              <a:rPr lang="el-GR" b="0" i="0" u="none" strike="noStrike" dirty="0">
                <a:solidFill>
                  <a:srgbClr val="000000"/>
                </a:solidFill>
                <a:effectLst/>
              </a:rPr>
              <a:t>λ2​</a:t>
            </a:r>
            <a:r>
              <a:rPr lang="el-G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are hyperparameters that balance the two terms.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26"/>
          <p:cNvCxnSpPr/>
          <p:nvPr/>
        </p:nvCxnSpPr>
        <p:spPr>
          <a:xfrm>
            <a:off x="6413860" y="1146242"/>
            <a:ext cx="0" cy="66784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0" y="972570"/>
            <a:ext cx="630935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i="0" u="none" strike="noStrike" dirty="0">
                <a:solidFill>
                  <a:srgbClr val="000000"/>
                </a:solidFill>
                <a:effectLst/>
              </a:rPr>
              <a:t>SHAP-Cluster Regularization &amp; Final Loss</a:t>
            </a:r>
          </a:p>
          <a:p>
            <a:pPr algn="l">
              <a:buNone/>
            </a:pPr>
            <a:endParaRPr lang="en-US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SHAP-Cluster Regularization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Aligns learned concept vectors with the cluster centers from the SHAP analysis.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 SHAP-cluster loss is: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70" y="2726896"/>
            <a:ext cx="46863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8586" y="3651118"/>
            <a:ext cx="60921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This term minimizes the average distance between each cluster center and its closest concept vector.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17170" y="4452747"/>
            <a:ext cx="7341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Final Objective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9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 complete loss function is: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170" y="5229655"/>
            <a:ext cx="3454400" cy="5461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6" y="6056701"/>
            <a:ext cx="62007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Where:</a:t>
            </a:r>
          </a:p>
          <a:p>
            <a:pPr algn="l">
              <a:buFont typeface="Arial" panose="020B0604020202090204" pitchFamily="34" charset="0"/>
              <a:buChar char="•"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Lpred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​ is the prediction loss (cross-entropy).</a:t>
            </a:r>
          </a:p>
          <a:p>
            <a:pPr algn="l">
              <a:buFont typeface="Arial" panose="020B060402020209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 composite loss enforces that the concept scores are both predictive and semantically aligned with important features.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6952" y="1060734"/>
            <a:ext cx="7346196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i="0" u="none" strike="noStrike" dirty="0">
                <a:solidFill>
                  <a:srgbClr val="000000"/>
                </a:solidFill>
                <a:effectLst/>
              </a:rPr>
              <a:t>Interpretation and Analysis of Concept Vectors</a:t>
            </a:r>
          </a:p>
          <a:p>
            <a:pPr algn="l">
              <a:buNone/>
            </a:pPr>
            <a:endParaRPr lang="en-US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9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Concept Loading: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Load learned concept vectors from a NumPy file (shape: m × d, where m = number of concepts, d = embedding dimension).</a:t>
            </a:r>
          </a:p>
          <a:p>
            <a:pPr algn="l">
              <a:buFont typeface="Arial" panose="020B060402020209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Embedding Preparation: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Convert training embeddings (BERT activations) into a torch tensor for analysis.</a:t>
            </a:r>
          </a:p>
          <a:p>
            <a:pPr algn="l">
              <a:buFont typeface="Arial" panose="020B060402020209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Nearest Neighbor Search: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Compute Euclidean distances between each concept vector and all training embeddings.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Retrieve the top 150 training examples (neighbors) with the smallest distances for each concept.</a:t>
            </a:r>
          </a:p>
          <a:p>
            <a:pPr algn="l">
              <a:buFont typeface="Arial" panose="020B060402020209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Word Extraction &amp; Frequency Analysis: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Extract words from the input sentences corresponding to the top-150 neighbors.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Filter out common stop words and punctuation, then count word frequencies.</a:t>
            </a:r>
          </a:p>
          <a:p>
            <a:pPr algn="l">
              <a:buFont typeface="Arial" panose="020B060402020209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Concept Characterization: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Report the 25 most common words for each concept to interpret its semantic meaning.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844" y="85550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Evaluation Results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62794" y="468415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Training Metrics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35853" y="5174574"/>
            <a:ext cx="4120753" cy="21774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TensorBoard logs show the proximity term (L1) increasing as concept vectors move closer to their neighbors, while the orthogonality term (L2) decreases as concepts become more distinct from each </a:t>
            </a:r>
            <a:r>
              <a:rPr lang="en-US" sz="1750" dirty="0" err="1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other,and</a:t>
            </a:r>
            <a:r>
              <a:rPr lang="en-US" sz="175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the total loss with </a:t>
            </a:r>
            <a:r>
              <a:rPr lang="en-US" sz="1750" dirty="0" err="1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shap</a:t>
            </a:r>
            <a:r>
              <a:rPr lang="en-US" sz="175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term.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5254704" y="416674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Completeness Score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084222" y="4550208"/>
            <a:ext cx="4120872" cy="18145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The completeness metric stabilizes around a value close to 1.0, indicating that our concept-based projection retains most of the predictive power of the original BERT model.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9715738" y="414946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Concept Analysis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5738" y="4684069"/>
            <a:ext cx="4120753" cy="21774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Semantic analysis of top neighbor patches confirms that each concept captures a coherent theme, ranging from strongly negative sentiment ("dull", "stupid") to positive sentiment ("love", "wonderful").</a:t>
            </a:r>
            <a:endParaRPr lang="en-US" sz="175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4" y="883407"/>
            <a:ext cx="2270568" cy="160786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8269" y="883407"/>
            <a:ext cx="2281511" cy="157611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5" y="2772518"/>
            <a:ext cx="2270568" cy="161708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9088" y="6329619"/>
            <a:ext cx="4120873" cy="9144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4222" y="7430646"/>
            <a:ext cx="3352547" cy="648159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0969" y="1182840"/>
            <a:ext cx="3225800" cy="22352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41165" y="1182839"/>
            <a:ext cx="5223303" cy="25942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8062" y="540544"/>
            <a:ext cx="10074593" cy="6143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Discovered Concepts and Nearest Neighbors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688062" y="1548051"/>
            <a:ext cx="13254276" cy="4980027"/>
          </a:xfrm>
          <a:prstGeom prst="roundRect">
            <a:avLst>
              <a:gd name="adj" fmla="val 165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5682" y="1555671"/>
            <a:ext cx="13239036" cy="565428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2254" y="1681163"/>
            <a:ext cx="6222563" cy="3144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Concept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515582" y="1681163"/>
            <a:ext cx="6222563" cy="3144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Top Words (word, frequency)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5682" y="2121098"/>
            <a:ext cx="13239036" cy="879872"/>
          </a:xfrm>
          <a:prstGeom prst="rect">
            <a:avLst/>
          </a:prstGeom>
          <a:solidFill>
            <a:srgbClr val="000000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2254" y="2246590"/>
            <a:ext cx="6222563" cy="3144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Concept 1 (Negative)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515582" y="2246590"/>
            <a:ext cx="6222563" cy="628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dull (27), really (24), stupid (24), movie (22), pointless (19), plot (12), just (11), terrible (7), annoying (8)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95682" y="3000970"/>
            <a:ext cx="13239036" cy="879872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92254" y="3126462"/>
            <a:ext cx="6222563" cy="3144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Concept 2 (Negative)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15582" y="3126462"/>
            <a:ext cx="6222563" cy="628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dull (23), just (22), really (22), stupid (19), acting (13), horrible (13), movie (13), poorly (11), bad (10)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5682" y="3880842"/>
            <a:ext cx="13239036" cy="879872"/>
          </a:xfrm>
          <a:prstGeom prst="rect">
            <a:avLst/>
          </a:prstGeom>
          <a:solidFill>
            <a:srgbClr val="000000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2254" y="4006334"/>
            <a:ext cx="6222563" cy="3144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Concept 3 /Positive)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15582" y="4006334"/>
            <a:ext cx="6222563" cy="628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story (9), good (8), movie (7), better (7), just (6), pretty (6), interesting (5), acting (5), performances (5)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95682" y="4760714"/>
            <a:ext cx="13239036" cy="879872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2254" y="4886206"/>
            <a:ext cx="6222563" cy="3144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Concept 4 (Positive)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515582" y="4886206"/>
            <a:ext cx="6222563" cy="628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love (26), wonderful (21), real (18), story (15), really (13), life (13), truly (11), movie (10), entertaining (9)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95682" y="5640586"/>
            <a:ext cx="13239036" cy="879872"/>
          </a:xfrm>
          <a:prstGeom prst="rect">
            <a:avLst/>
          </a:prstGeom>
          <a:solidFill>
            <a:srgbClr val="000000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92254" y="5766078"/>
            <a:ext cx="6222563" cy="3144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Concept 5 (Positive)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515582" y="5766078"/>
            <a:ext cx="6222563" cy="628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love (24), wonderful (22), real (18), story (16), really (13), life (13), truly (12), movie (10), entertaining (9)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8062" y="6749177"/>
            <a:ext cx="13254276" cy="9433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The learned concept vectors clearly capture high-level sentiment patterns. Concepts 1 and 2 are associated with negative sentiment words, while Concepts 3, 4, and 5 capture increasingly positive sentiments, demonstrating the effectiveness of our approach in discovering interpretable concepts.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92345" y="704536"/>
            <a:ext cx="7565350" cy="5941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Conclusions and Future Directions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5321" y="2397586"/>
            <a:ext cx="4243149" cy="6273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49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</a:t>
            </a:r>
            <a:endParaRPr lang="en-US" sz="4900" dirty="0"/>
          </a:p>
        </p:txBody>
      </p:sp>
      <p:sp>
        <p:nvSpPr>
          <p:cNvPr id="6" name="Text 3"/>
          <p:cNvSpPr/>
          <p:nvPr/>
        </p:nvSpPr>
        <p:spPr>
          <a:xfrm>
            <a:off x="1598771" y="3262456"/>
            <a:ext cx="2376249" cy="2970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Discovered Concepts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65321" y="3673579"/>
            <a:ext cx="4243149" cy="6084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Interpretable concept vectors that strongly correlate with sentiment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193625" y="2397586"/>
            <a:ext cx="4243149" cy="6273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49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~1.0</a:t>
            </a:r>
            <a:endParaRPr lang="en-US" sz="4900" dirty="0"/>
          </a:p>
        </p:txBody>
      </p:sp>
      <p:sp>
        <p:nvSpPr>
          <p:cNvPr id="9" name="Text 6"/>
          <p:cNvSpPr/>
          <p:nvPr/>
        </p:nvSpPr>
        <p:spPr>
          <a:xfrm>
            <a:off x="6127075" y="3262456"/>
            <a:ext cx="2376249" cy="2970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Completeness Score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5193625" y="3673579"/>
            <a:ext cx="4243149" cy="3042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Indicating minimal loss of predictive power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721929" y="2397586"/>
            <a:ext cx="4243149" cy="6273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00"/>
              </a:lnSpc>
              <a:buNone/>
            </a:pPr>
            <a:endParaRPr lang="en-US" sz="4900" dirty="0"/>
          </a:p>
        </p:txBody>
      </p:sp>
      <p:sp>
        <p:nvSpPr>
          <p:cNvPr id="12" name="Text 9"/>
          <p:cNvSpPr/>
          <p:nvPr/>
        </p:nvSpPr>
        <p:spPr>
          <a:xfrm>
            <a:off x="10655379" y="3262456"/>
            <a:ext cx="2376249" cy="2970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Key Innovations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9721929" y="3673579"/>
            <a:ext cx="4243149" cy="6084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Local proximity, orthogonality</a:t>
            </a:r>
            <a:r>
              <a:rPr lang="zh-CN" altLang="en-US" sz="145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</a:t>
            </a:r>
            <a:r>
              <a:rPr lang="en-US" altLang="zh-CN" sz="145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with</a:t>
            </a:r>
            <a:r>
              <a:rPr lang="en-US" sz="145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SHAP-based regularization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65321" y="4495825"/>
            <a:ext cx="13299758" cy="9126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We successfully integrated local attributions from SHAP into concept discovery, creating explanations that are both globally sufficient and locally grounded. Our method bridges concept-based interpretability with state-of-the-art language models, ensuring that learned concepts remain both semantically meaningful and highly predictive.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65321" y="5622275"/>
            <a:ext cx="13299758" cy="6084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Future directions include extending to incorporating concept-based interpretability into generative language models, and integrating concept regularization directly into model fine-tuning for more robust or disentangled concepts.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6035094" y="3520678"/>
            <a:ext cx="7565350" cy="5941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/>
              <a:t>Thank you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4150995" y="4646930"/>
            <a:ext cx="73152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https://github.com/lucasli05/XAI_Shap-concept_NN_for_LLM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1556</Words>
  <Application>Microsoft Macintosh PowerPoint</Application>
  <PresentationFormat>Custom</PresentationFormat>
  <Paragraphs>162</Paragraphs>
  <Slides>11</Slides>
  <Notes>11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-webkit-standard</vt:lpstr>
      <vt:lpstr>Noto Sans SC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Lucas-Guangjie Li</cp:lastModifiedBy>
  <cp:revision>22</cp:revision>
  <dcterms:created xsi:type="dcterms:W3CDTF">2025-04-11T11:48:13Z</dcterms:created>
  <dcterms:modified xsi:type="dcterms:W3CDTF">2025-04-11T16:03:27Z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28CBDC27F4F32DB7BC49F167954ED3F3_42</vt:lpwstr>
  </property>
  <property fmtid="{D5CDD505-2E9C-101B-9397-08002B2CF9AE}" pid="3" name="KSOProductBuildVer">
    <vt:lpwstr>1033-7.2.2.8955</vt:lpwstr>
  </property>
</Properties>
</file>